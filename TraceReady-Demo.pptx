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44752"/>
            <a:ext cx="457200" cy="6400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600" b="1">
                <a:solidFill>
                  <a:srgbClr val="FFFFFF"/>
                </a:solidFill>
                <a:latin typeface="Calibri"/>
              </a:rPr>
              <a:t>TraceReady</a:t>
            </a:r>
          </a:p>
          <a:p>
            <a:pPr algn="l">
              <a:spcAft>
                <a:spcPts val="2200"/>
              </a:spcAft>
            </a:pPr>
            <a:r>
              <a:rPr sz="2400" b="0">
                <a:solidFill>
                  <a:srgbClr val="C9D6E5"/>
                </a:solidFill>
                <a:latin typeface="Calibri"/>
              </a:rPr>
              <a:t>Automated FSMA 204 traceability audits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CB0C7"/>
                </a:solidFill>
                <a:latin typeface="Calibri"/>
              </a:rPr>
              <a:t>Upload a supplier workbook. Receive a defensible, source-backed compliance verdict.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06440"/>
            <a:ext cx="2743200" cy="18288"/>
          </a:xfrm>
          <a:prstGeom prst="rect">
            <a:avLst/>
          </a:prstGeom>
          <a:solidFill>
            <a:srgbClr val="354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CB0C7"/>
                </a:solidFill>
                <a:latin typeface="Calibri"/>
              </a:rPr>
              <a:t>PRODUCT DEMO   ·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310896" cy="4114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6CB5"/>
                </a:solidFill>
                <a:latin typeface="Calibri"/>
              </a:rPr>
              <a:t>THE PROBLEM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Compliance today is manual, slow, and hard to defend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08792" cy="16459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327648"/>
            <a:ext cx="10908792" cy="13716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TRACEREADY  ·  FSMA 204 TRACEABILITY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10908792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A hard deadline with real penalties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Every link in the food chain must retain Key Data Elements for Food Traceability List items — or face FDA enforcement.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10908792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Spreadsheets, not systems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Suppliers track lots in inconsistent workbooks. Reviewers reconcile them by hand, row by row.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92040"/>
            <a:ext cx="10908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10908792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No defensible audit trail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When the FDA asks, teams cannot quickly prove which records are complete, missing, or incorrect.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310896" cy="4114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6CB5"/>
                </a:solidFill>
                <a:latin typeface="Calibri"/>
              </a:rPr>
              <a:t>THE SOLUTION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Drop in a workbook. Get a verdict you can defend.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08792" cy="16459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327648"/>
            <a:ext cx="10908792" cy="13716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TRACEREADY  ·  FSMA 204 TRACEABILITY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3511296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3511296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68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892F"/>
                </a:solidFill>
                <a:latin typeface="Calibri"/>
              </a:rPr>
              <a:t>01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2545"/>
                </a:solidFill>
                <a:latin typeface="Calibri"/>
              </a:rPr>
              <a:t>Upload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Operator uploads the customer traceability workbook. No formatting rules to learn.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2194560"/>
            <a:ext cx="3511296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2194560"/>
            <a:ext cx="3511296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468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892F"/>
                </a:solidFill>
                <a:latin typeface="Calibri"/>
              </a:rPr>
              <a:t>02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2545"/>
                </a:solidFill>
                <a:latin typeface="Calibri"/>
              </a:rPr>
              <a:t>Audit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The engine parses every record and checks it against approved FSMA 204 rules.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2" y="2194560"/>
            <a:ext cx="3511296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2194560"/>
            <a:ext cx="3511296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892F"/>
                </a:solidFill>
                <a:latin typeface="Calibri"/>
              </a:rPr>
              <a:t>03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2545"/>
                </a:solidFill>
                <a:latin typeface="Calibri"/>
              </a:rPr>
              <a:t>Export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FDA-style package plus findings, each traced to its rule and source row.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57800"/>
            <a:ext cx="10908792" cy="16459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Outcome:  </a:t>
            </a:r>
            <a:r>
              <a:rPr sz="1600" b="0">
                <a:solidFill>
                  <a:srgbClr val="2E6CB5"/>
                </a:solidFill>
                <a:latin typeface="Calibri"/>
              </a:rPr>
              <a:t>one operator does in minutes what used to take a reviewer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310896" cy="4114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6CB5"/>
                </a:solidFill>
                <a:latin typeface="Calibri"/>
              </a:rPr>
              <a:t>HOW IT WORKS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A deterministic pipeline,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08792" cy="16459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327648"/>
            <a:ext cx="10908792" cy="13716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TRACEREADY  ·  FSMA 204 TRACEABILITY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66928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" y="2715768"/>
            <a:ext cx="22860" cy="384048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130552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Parse   —   </a:t>
            </a:r>
            <a:r>
              <a:rPr sz="1600" b="0">
                <a:solidFill>
                  <a:srgbClr val="5A6B7B"/>
                </a:solidFill>
                <a:latin typeface="Calibri"/>
              </a:rPr>
              <a:t>Extract every evidence record from the workbook — sheets, rows, cells.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99816"/>
            <a:ext cx="566928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" y="3666744"/>
            <a:ext cx="22860" cy="384048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081528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Map   —   </a:t>
            </a:r>
            <a:r>
              <a:rPr sz="1600" b="0">
                <a:solidFill>
                  <a:srgbClr val="5A6B7B"/>
                </a:solidFill>
                <a:latin typeface="Calibri"/>
              </a:rPr>
              <a:t>Match records to obligations: KDEs, Critical Tracking Events, traceability-lot codes.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50791"/>
            <a:ext cx="566928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" y="4617720"/>
            <a:ext cx="22860" cy="384048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032504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Evaluate   —   </a:t>
            </a:r>
            <a:r>
              <a:rPr sz="1600" b="0">
                <a:solidFill>
                  <a:srgbClr val="5A6B7B"/>
                </a:solidFill>
                <a:latin typeface="Calibri"/>
              </a:rPr>
              <a:t>Run approved rules: completeness, lineage, exemptions, readiness.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01768"/>
            <a:ext cx="566928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98348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Package   —   </a:t>
            </a:r>
            <a:r>
              <a:rPr sz="1600" b="0">
                <a:solidFill>
                  <a:srgbClr val="5A6B7B"/>
                </a:solidFill>
                <a:latin typeface="Calibri"/>
              </a:rPr>
              <a:t>Produce findings and an FDA-style export, each citing rule and source.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5971031"/>
            <a:ext cx="10058400" cy="16459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60807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CB5"/>
                </a:solidFill>
                <a:latin typeface="Calibri"/>
              </a:rPr>
              <a:t>Synchronous by design — no queues, no cron. The upload returns when the audit is complete.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310896" cy="4114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6CB5"/>
                </a:solidFill>
                <a:latin typeface="Calibri"/>
              </a:rPr>
              <a:t>WHY YOU CAN TRUST IT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Engineered so a false pass cannot happen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08792" cy="16459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327648"/>
            <a:ext cx="10908792" cy="13716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TRACEREADY  ·  FSMA 204 TRACEABILITY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31136"/>
            <a:ext cx="82296" cy="84124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Approved cards, not hardcoding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Rules, KDEs, exemptions, and plans load from human-approved cards in Supabase.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57015"/>
            <a:ext cx="82296" cy="84124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39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Deterministic core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Same workbook in, same verdict out. Every finding cites its rule and its source row.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82896"/>
            <a:ext cx="82296" cy="84124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84632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Fails closed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6B7B"/>
                </a:solidFill>
                <a:latin typeface="Calibri"/>
              </a:rPr>
              <a:t>Missing or ambiguous data is flagged — never silently passed.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194560"/>
            <a:ext cx="4370832" cy="3931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2194560"/>
            <a:ext cx="4370832" cy="6400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514600"/>
            <a:ext cx="37490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150" b="1">
                <a:solidFill>
                  <a:srgbClr val="9CB0C7"/>
                </a:solidFill>
                <a:latin typeface="Calibri"/>
              </a:rPr>
              <a:t>GUIDING PRINCIPLE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 false pass is the worst error.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C9D6E5"/>
                </a:solidFill>
                <a:latin typeface="Calibri"/>
              </a:rPr>
              <a:t>We optimize never to tell a customer they are compliant when they are not — even at the cost of flagging more for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310896" cy="41148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6CB5"/>
                </a:solidFill>
                <a:latin typeface="Calibri"/>
              </a:rPr>
              <a:t>WHAT YOU'LL SEE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A live audit of a real demo workbook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08792" cy="16459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327648"/>
            <a:ext cx="10908792" cy="13716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382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TRACEREADY  ·  FSMA 204 TRACEABILITY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2660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2660904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2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>
                <a:solidFill>
                  <a:srgbClr val="0B2545"/>
                </a:solidFill>
                <a:latin typeface="Calibri"/>
              </a:rPr>
              <a:t>418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evidence records parsed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7" y="2194560"/>
            <a:ext cx="2660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7" y="2194560"/>
            <a:ext cx="2660904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7" y="2450592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>
                <a:solidFill>
                  <a:srgbClr val="0B2545"/>
                </a:solidFill>
                <a:latin typeface="Calibri"/>
              </a:rPr>
              <a:t>11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sheets · 57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2194560"/>
            <a:ext cx="2660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2194560"/>
            <a:ext cx="2660904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450592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>
                <a:solidFill>
                  <a:srgbClr val="0B2545"/>
                </a:solidFill>
                <a:latin typeface="Calibri"/>
              </a:rPr>
              <a:t>7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findings surfaced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1704" y="2194560"/>
            <a:ext cx="2660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1704" y="2194560"/>
            <a:ext cx="2660904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2450592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2545"/>
                </a:solidFill>
                <a:latin typeface="Calibri"/>
              </a:rPr>
              <a:t>BLOCKED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A6B7B"/>
                </a:solidFill>
                <a:latin typeface="Calibri"/>
              </a:rPr>
              <a:t>readiness verdict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17720"/>
            <a:ext cx="10908792" cy="16459"/>
          </a:xfrm>
          <a:prstGeom prst="rect">
            <a:avLst/>
          </a:prstGeom>
          <a:solidFill>
            <a:srgbClr val="D6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B2545"/>
                </a:solidFill>
                <a:latin typeface="Calibri"/>
              </a:rPr>
              <a:t>The verdict is the point.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938"/>
                </a:solidFill>
                <a:latin typeface="Calibri"/>
              </a:rPr>
              <a:t>TraceReady does not rubber-stamp a pass. It parsed 418 records, found 7 real gaps and 2 blockers, and returned a defensible “not ready” — with an FDA-style export and findings traced to source.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2194560" cy="54864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From workbook to FDA-ready verdict — in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675888"/>
            <a:ext cx="146304" cy="146304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0">
                <a:solidFill>
                  <a:srgbClr val="E3EAF3"/>
                </a:solidFill>
                <a:latin typeface="Calibri"/>
              </a:rPr>
              <a:t>Defensible — every finding cites its rule and its source row.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34256"/>
            <a:ext cx="146304" cy="146304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2245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0">
                <a:solidFill>
                  <a:srgbClr val="E3EAF3"/>
                </a:solidFill>
                <a:latin typeface="Calibri"/>
              </a:rPr>
              <a:t>Trustworthy — deterministic, approved rules, fails closed.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992624"/>
            <a:ext cx="146304" cy="146304"/>
          </a:xfrm>
          <a:prstGeom prst="rect">
            <a:avLst/>
          </a:prstGeom>
          <a:solidFill>
            <a:srgbClr val="B9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88289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0">
                <a:solidFill>
                  <a:srgbClr val="E3EAF3"/>
                </a:solidFill>
                <a:latin typeface="Calibri"/>
              </a:rPr>
              <a:t>Shippable today — live on Vercel and Supabase.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897880"/>
            <a:ext cx="10515600" cy="13716"/>
          </a:xfrm>
          <a:prstGeom prst="rect">
            <a:avLst/>
          </a:prstGeom>
          <a:solidFill>
            <a:srgbClr val="354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9CB0C7"/>
                </a:solidFill>
                <a:latin typeface="Calibri"/>
              </a:rPr>
              <a:t>TRACEREADY   ·   FSMA 204 TRACEABILITY AUDITS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