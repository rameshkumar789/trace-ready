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87"/>
  </p:normalViewPr>
  <p:slideViewPr>
    <p:cSldViewPr snapToGrid="0">
      <p:cViewPr varScale="1">
        <p:scale>
          <a:sx n="104" d="100"/>
          <a:sy n="104" d="100"/>
        </p:scale>
        <p:origin x="80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FC1E9878-EC77-4518-AAC6-34564A0BED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0DB5C61-CE1C-4CDC-ADE2-6E039E4E150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F7B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AFE23F-0637-472D-B727-F1964FEF1D6D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4953000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FD7992-0FBA-4777-B7FD-5148EF54C92D}"/>
              </a:ext>
            </a:extLst>
          </p:cNvPr>
          <p:cNvSpPr>
            <a:spLocks noGrp="1"/>
          </p:cNvSpPr>
          <p:nvPr/>
        </p:nvSpPr>
        <p:spPr>
          <a:xfrm>
            <a:off x="666750" y="742950"/>
            <a:ext cx="581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F7B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B8A"/>
                </a:solidFill>
                <a:latin typeface="Aptos"/>
                <a:ea typeface="Aptos"/>
                <a:cs typeface="Aptos"/>
              </a:rPr>
              <a:t>TRACEREADY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9452D0-4243-49B8-A090-8737F2595061}"/>
              </a:ext>
            </a:extLst>
          </p:cNvPr>
          <p:cNvSpPr>
            <a:spLocks noGrp="1"/>
          </p:cNvSpPr>
          <p:nvPr/>
        </p:nvSpPr>
        <p:spPr>
          <a:xfrm>
            <a:off x="666750" y="1219200"/>
            <a:ext cx="581025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6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TraceReady Audit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8656A2-2AB7-482A-B3DF-8ED87E5A5745}"/>
              </a:ext>
            </a:extLst>
          </p:cNvPr>
          <p:cNvSpPr>
            <a:spLocks noGrp="1"/>
          </p:cNvSpPr>
          <p:nvPr/>
        </p:nvSpPr>
        <p:spPr>
          <a:xfrm>
            <a:off x="704850" y="2914650"/>
            <a:ext cx="53340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5A6878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A6878"/>
                </a:solidFill>
                <a:latin typeface="Aptos"/>
                <a:ea typeface="Aptos"/>
                <a:cs typeface="Aptos"/>
              </a:rPr>
              <a:t>A data-readiness pilot that turns messy supplier records into traceability-ready outputs before platform onboarding.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24BA34-E467-4EB0-A13D-C4DCF278D10A}"/>
              </a:ext>
            </a:extLst>
          </p:cNvPr>
          <p:cNvSpPr>
            <a:spLocks noGrp="1"/>
          </p:cNvSpPr>
          <p:nvPr/>
        </p:nvSpPr>
        <p:spPr>
          <a:xfrm>
            <a:off x="685800" y="4476750"/>
            <a:ext cx="228600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5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321269-2F62-43BA-8F4E-F3697DD4C07D}"/>
              </a:ext>
            </a:extLst>
          </p:cNvPr>
          <p:cNvSpPr>
            <a:spLocks noGrp="1"/>
          </p:cNvSpPr>
          <p:nvPr/>
        </p:nvSpPr>
        <p:spPr>
          <a:xfrm>
            <a:off x="685800" y="4476750"/>
            <a:ext cx="2286000" cy="66675"/>
          </a:xfrm>
          <a:prstGeom prst="rect">
            <a:avLst/>
          </a:prstGeom>
          <a:solidFill>
            <a:srgbClr val="C2761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6C7FF6-7B4C-447C-954C-5992E672BBE3}"/>
              </a:ext>
            </a:extLst>
          </p:cNvPr>
          <p:cNvSpPr>
            <a:spLocks noGrp="1"/>
          </p:cNvSpPr>
          <p:nvPr/>
        </p:nvSpPr>
        <p:spPr>
          <a:xfrm>
            <a:off x="857250" y="4743450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E6CA5A-C278-4D7F-88C3-3D9C9832497B}"/>
              </a:ext>
            </a:extLst>
          </p:cNvPr>
          <p:cNvSpPr>
            <a:spLocks noGrp="1"/>
          </p:cNvSpPr>
          <p:nvPr/>
        </p:nvSpPr>
        <p:spPr>
          <a:xfrm>
            <a:off x="857250" y="5029200"/>
            <a:ext cx="1905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A687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A6878"/>
                </a:solidFill>
                <a:latin typeface="Aptos"/>
                <a:ea typeface="Aptos"/>
                <a:cs typeface="Aptos"/>
              </a:rPr>
              <a:t>Invoices, BOLs, labels, Excel, notes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568F7D-EBFC-40A6-B2A2-1F4C67F168A8}"/>
              </a:ext>
            </a:extLst>
          </p:cNvPr>
          <p:cNvSpPr>
            <a:spLocks noGrp="1"/>
          </p:cNvSpPr>
          <p:nvPr/>
        </p:nvSpPr>
        <p:spPr>
          <a:xfrm>
            <a:off x="3257550" y="4476750"/>
            <a:ext cx="228600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5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30598A-052B-428D-824B-BD5DC1267D14}"/>
              </a:ext>
            </a:extLst>
          </p:cNvPr>
          <p:cNvSpPr>
            <a:spLocks noGrp="1"/>
          </p:cNvSpPr>
          <p:nvPr/>
        </p:nvSpPr>
        <p:spPr>
          <a:xfrm>
            <a:off x="3257550" y="4476750"/>
            <a:ext cx="2286000" cy="66675"/>
          </a:xfrm>
          <a:prstGeom prst="rect">
            <a:avLst/>
          </a:prstGeom>
          <a:solidFill>
            <a:srgbClr val="0F7B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B13775-E405-4EAF-8BEA-ABDE716A575D}"/>
              </a:ext>
            </a:extLst>
          </p:cNvPr>
          <p:cNvSpPr>
            <a:spLocks noGrp="1"/>
          </p:cNvSpPr>
          <p:nvPr/>
        </p:nvSpPr>
        <p:spPr>
          <a:xfrm>
            <a:off x="3429000" y="4743450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TraceReady Audit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95A0D29-F352-4D3F-81B0-5FF53B1AE339}"/>
              </a:ext>
            </a:extLst>
          </p:cNvPr>
          <p:cNvSpPr>
            <a:spLocks noGrp="1"/>
          </p:cNvSpPr>
          <p:nvPr/>
        </p:nvSpPr>
        <p:spPr>
          <a:xfrm>
            <a:off x="3429000" y="5029200"/>
            <a:ext cx="1905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A687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A6878"/>
                </a:solidFill>
                <a:latin typeface="Aptos"/>
                <a:ea typeface="Aptos"/>
                <a:cs typeface="Aptos"/>
              </a:rPr>
              <a:t>Missing fields and mismatch summary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0C8E60-2B8D-4560-BECC-3B48521F0A12}"/>
              </a:ext>
            </a:extLst>
          </p:cNvPr>
          <p:cNvSpPr>
            <a:spLocks noGrp="1"/>
          </p:cNvSpPr>
          <p:nvPr/>
        </p:nvSpPr>
        <p:spPr>
          <a:xfrm>
            <a:off x="7762875" y="1085850"/>
            <a:ext cx="3333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Why this meeting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1A21C4C-33D6-4239-BA7C-FDE6A92F27F1}"/>
              </a:ext>
            </a:extLst>
          </p:cNvPr>
          <p:cNvSpPr>
            <a:spLocks noGrp="1"/>
          </p:cNvSpPr>
          <p:nvPr/>
        </p:nvSpPr>
        <p:spPr>
          <a:xfrm>
            <a:off x="7772400" y="1809750"/>
            <a:ext cx="3286125" cy="2476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0">
                <a:solidFill>
                  <a:srgbClr val="D8F6F4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D8F6F4"/>
                </a:solidFill>
                <a:latin typeface="Aptos"/>
                <a:ea typeface="Aptos"/>
                <a:cs typeface="Aptos"/>
              </a:rPr>
              <a:t>Discuss whether TraceReady Audit could help food operators become ready for FSMA 204 traceability systems.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DCD2EFB-A711-4DF3-9B34-96DE9EB6F4FD}"/>
              </a:ext>
            </a:extLst>
          </p:cNvPr>
          <p:cNvSpPr>
            <a:spLocks noGrp="1"/>
          </p:cNvSpPr>
          <p:nvPr/>
        </p:nvSpPr>
        <p:spPr>
          <a:xfrm>
            <a:off x="7772400" y="4781550"/>
            <a:ext cx="3238500" cy="14288"/>
          </a:xfrm>
          <a:prstGeom prst="rect">
            <a:avLst/>
          </a:prstGeom>
          <a:solidFill>
            <a:srgbClr val="74C6B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8AFCE74-E273-4DC3-9ABA-797775B22877}"/>
              </a:ext>
            </a:extLst>
          </p:cNvPr>
          <p:cNvSpPr>
            <a:spLocks noGrp="1"/>
          </p:cNvSpPr>
          <p:nvPr/>
        </p:nvSpPr>
        <p:spPr>
          <a:xfrm>
            <a:off x="7772400" y="5048250"/>
            <a:ext cx="32385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Discussion focus: pilot scope and partner fit.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EACE1F4-52D3-4E67-B41E-1E24F113E761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476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A849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494"/>
                </a:solidFill>
                <a:latin typeface="Aptos"/>
                <a:ea typeface="Aptos"/>
                <a:cs typeface="Aptos"/>
              </a:rPr>
              <a:t>TraceReady - collaboration discussion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7335071-CF29-440E-9AC5-5F65ADA05958}"/>
              </a:ext>
            </a:extLst>
          </p:cNvPr>
          <p:cNvSpPr>
            <a:spLocks noGrp="1"/>
          </p:cNvSpPr>
          <p:nvPr/>
        </p:nvSpPr>
        <p:spPr>
          <a:xfrm>
            <a:off x="10744200" y="6438900"/>
            <a:ext cx="914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7A849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49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17135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B9482079-9625-4D2F-AA30-7FBE9B8413E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BCE03D-7928-41C9-A5E0-E0CCD0A06B5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3825" cy="6858000"/>
          </a:xfrm>
          <a:prstGeom prst="rect">
            <a:avLst/>
          </a:prstGeom>
          <a:solidFill>
            <a:srgbClr val="0F7B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796BBB-5669-441E-BC2D-4EDE7E86CEA6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742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B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B8A"/>
                </a:solidFill>
                <a:latin typeface="Aptos"/>
                <a:ea typeface="Aptos"/>
                <a:cs typeface="Aptos"/>
              </a:rPr>
              <a:t>TRACEREADY AUDIT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015751-1FFB-49AE-BC3B-B1FB143DE4AB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2870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Field signal: traceability starts with messy intake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CC7F20-C247-4648-9FA7-FE5370E4A4B5}"/>
              </a:ext>
            </a:extLst>
          </p:cNvPr>
          <p:cNvSpPr>
            <a:spLocks noGrp="1"/>
          </p:cNvSpPr>
          <p:nvPr/>
        </p:nvSpPr>
        <p:spPr>
          <a:xfrm>
            <a:off x="609600" y="1390650"/>
            <a:ext cx="10477500" cy="14288"/>
          </a:xfrm>
          <a:prstGeom prst="rect">
            <a:avLst/>
          </a:prstGeom>
          <a:solidFill>
            <a:srgbClr val="D8DE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056349-A9E1-45E9-8EA3-F23E208A4E28}"/>
              </a:ext>
            </a:extLst>
          </p:cNvPr>
          <p:cNvSpPr>
            <a:spLocks noGrp="1"/>
          </p:cNvSpPr>
          <p:nvPr/>
        </p:nvSpPr>
        <p:spPr>
          <a:xfrm>
            <a:off x="800100" y="2076450"/>
            <a:ext cx="3238500" cy="2333625"/>
          </a:xfrm>
          <a:prstGeom prst="rect">
            <a:avLst/>
          </a:prstGeom>
          <a:solidFill>
            <a:srgbClr val="FFF5E5"/>
          </a:solidFill>
          <a:ln w="9525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DD6C80-BFAA-45DF-946E-DEB657059272}"/>
              </a:ext>
            </a:extLst>
          </p:cNvPr>
          <p:cNvSpPr>
            <a:spLocks noGrp="1"/>
          </p:cNvSpPr>
          <p:nvPr/>
        </p:nvSpPr>
        <p:spPr>
          <a:xfrm>
            <a:off x="1028700" y="2286000"/>
            <a:ext cx="8191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750" b="1">
                <a:solidFill>
                  <a:srgbClr val="C27612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C27612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03A5FFC-92E0-4EAA-8ACE-98AFFBBE8998}"/>
              </a:ext>
            </a:extLst>
          </p:cNvPr>
          <p:cNvSpPr>
            <a:spLocks noGrp="1"/>
          </p:cNvSpPr>
          <p:nvPr/>
        </p:nvSpPr>
        <p:spPr>
          <a:xfrm>
            <a:off x="1028700" y="2990850"/>
            <a:ext cx="27813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Records arrive fragmented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33329F-FB6F-4F58-827C-20F2526F123B}"/>
              </a:ext>
            </a:extLst>
          </p:cNvPr>
          <p:cNvSpPr>
            <a:spLocks noGrp="1"/>
          </p:cNvSpPr>
          <p:nvPr/>
        </p:nvSpPr>
        <p:spPr>
          <a:xfrm>
            <a:off x="1028700" y="3505200"/>
            <a:ext cx="27432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A68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878"/>
                </a:solidFill>
                <a:latin typeface="Aptos"/>
                <a:ea typeface="Aptos"/>
                <a:cs typeface="Aptos"/>
              </a:rPr>
              <a:t>Paper invoices, handwritten notes, PDFs, box labels, Excel, QuickBooks, DProduce Man, and internal systems.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A866A6-5FBF-4DCE-BAB3-6293DCBA9B98}"/>
              </a:ext>
            </a:extLst>
          </p:cNvPr>
          <p:cNvSpPr>
            <a:spLocks noGrp="1"/>
          </p:cNvSpPr>
          <p:nvPr/>
        </p:nvSpPr>
        <p:spPr>
          <a:xfrm>
            <a:off x="4476750" y="2076450"/>
            <a:ext cx="3238500" cy="2333625"/>
          </a:xfrm>
          <a:prstGeom prst="rect">
            <a:avLst/>
          </a:prstGeom>
          <a:solidFill>
            <a:srgbClr val="EAF2FF"/>
          </a:solidFill>
          <a:ln w="9525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817ACBC-FCA7-45DA-A758-27E46E94B10B}"/>
              </a:ext>
            </a:extLst>
          </p:cNvPr>
          <p:cNvSpPr>
            <a:spLocks noGrp="1"/>
          </p:cNvSpPr>
          <p:nvPr/>
        </p:nvSpPr>
        <p:spPr>
          <a:xfrm>
            <a:off x="4705350" y="2286000"/>
            <a:ext cx="8191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750" b="1">
                <a:solidFill>
                  <a:srgbClr val="2457C5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2457C5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035A4F-37E7-42EA-9C17-C57528AAD57B}"/>
              </a:ext>
            </a:extLst>
          </p:cNvPr>
          <p:cNvSpPr>
            <a:spLocks noGrp="1"/>
          </p:cNvSpPr>
          <p:nvPr/>
        </p:nvSpPr>
        <p:spPr>
          <a:xfrm>
            <a:off x="4705350" y="2990850"/>
            <a:ext cx="27813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Operators use different language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F3B1D4-7F0F-43DA-806B-42BC854FAA9B}"/>
              </a:ext>
            </a:extLst>
          </p:cNvPr>
          <p:cNvSpPr>
            <a:spLocks noGrp="1"/>
          </p:cNvSpPr>
          <p:nvPr/>
        </p:nvSpPr>
        <p:spPr>
          <a:xfrm>
            <a:off x="4705350" y="3505200"/>
            <a:ext cx="27432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A68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878"/>
                </a:solidFill>
                <a:latin typeface="Aptos"/>
                <a:ea typeface="Aptos"/>
                <a:cs typeface="Aptos"/>
              </a:rPr>
              <a:t>Smaller operators describe typing, filing, labels, and finding records before they describe FSMA 204.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C25A5A-2D26-46F2-BFDC-D51ACAE9B93E}"/>
              </a:ext>
            </a:extLst>
          </p:cNvPr>
          <p:cNvSpPr>
            <a:spLocks noGrp="1"/>
          </p:cNvSpPr>
          <p:nvPr/>
        </p:nvSpPr>
        <p:spPr>
          <a:xfrm>
            <a:off x="8153400" y="2076450"/>
            <a:ext cx="3238500" cy="2333625"/>
          </a:xfrm>
          <a:prstGeom prst="rect">
            <a:avLst/>
          </a:prstGeom>
          <a:solidFill>
            <a:srgbClr val="EAF7F1"/>
          </a:solidFill>
          <a:ln w="9525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CDB8E60-7936-4C9C-B5C5-D055C20CE6AF}"/>
              </a:ext>
            </a:extLst>
          </p:cNvPr>
          <p:cNvSpPr>
            <a:spLocks noGrp="1"/>
          </p:cNvSpPr>
          <p:nvPr/>
        </p:nvSpPr>
        <p:spPr>
          <a:xfrm>
            <a:off x="8382000" y="2286000"/>
            <a:ext cx="8191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750" b="1">
                <a:solidFill>
                  <a:srgbClr val="147A5A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147A5A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CE95B2A-61DE-4EA1-901B-62A8149BDA3A}"/>
              </a:ext>
            </a:extLst>
          </p:cNvPr>
          <p:cNvSpPr>
            <a:spLocks noGrp="1"/>
          </p:cNvSpPr>
          <p:nvPr/>
        </p:nvSpPr>
        <p:spPr>
          <a:xfrm>
            <a:off x="8382000" y="2990850"/>
            <a:ext cx="27813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Mature teams still see exceptions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5AF36A4-B855-4EF5-AB5A-B308DF0C30B0}"/>
              </a:ext>
            </a:extLst>
          </p:cNvPr>
          <p:cNvSpPr>
            <a:spLocks noGrp="1"/>
          </p:cNvSpPr>
          <p:nvPr/>
        </p:nvSpPr>
        <p:spPr>
          <a:xfrm>
            <a:off x="8382000" y="3505200"/>
            <a:ext cx="27432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A68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878"/>
                </a:solidFill>
                <a:latin typeface="Aptos"/>
                <a:ea typeface="Aptos"/>
                <a:cs typeface="Aptos"/>
              </a:rPr>
              <a:t>Larger teams may trace pallets, but missing or conflicting supplier data still creates manual work.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6883FC-CFF1-4DE6-9AEB-EEE33C1989E0}"/>
              </a:ext>
            </a:extLst>
          </p:cNvPr>
          <p:cNvSpPr>
            <a:spLocks noGrp="1"/>
          </p:cNvSpPr>
          <p:nvPr/>
        </p:nvSpPr>
        <p:spPr>
          <a:xfrm>
            <a:off x="1200150" y="5219700"/>
            <a:ext cx="97917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88814FC-370B-4E05-BA79-861E553C7D7D}"/>
              </a:ext>
            </a:extLst>
          </p:cNvPr>
          <p:cNvSpPr>
            <a:spLocks noGrp="1"/>
          </p:cNvSpPr>
          <p:nvPr/>
        </p:nvSpPr>
        <p:spPr>
          <a:xfrm>
            <a:off x="1504950" y="5334000"/>
            <a:ext cx="91821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What TraceReady Audit tests: some operators may need a data-readiness step before platform onboarding.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D65C7E7-C659-42AB-99DA-D2A9A0D3E288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476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A849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494"/>
                </a:solidFill>
                <a:latin typeface="Aptos"/>
                <a:ea typeface="Aptos"/>
                <a:cs typeface="Aptos"/>
              </a:rPr>
              <a:t>TraceReady - collaboration discussion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F192C4F-C2F8-467A-B868-500921CB3EBF}"/>
              </a:ext>
            </a:extLst>
          </p:cNvPr>
          <p:cNvSpPr>
            <a:spLocks noGrp="1"/>
          </p:cNvSpPr>
          <p:nvPr/>
        </p:nvSpPr>
        <p:spPr>
          <a:xfrm>
            <a:off x="10744200" y="6438900"/>
            <a:ext cx="914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7A849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49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58579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A407F671-7C29-451C-B3FC-2F2529EFD2E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C36BFC-1BC2-4D2F-B988-B0E98BC924B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3825" cy="6858000"/>
          </a:xfrm>
          <a:prstGeom prst="rect">
            <a:avLst/>
          </a:prstGeom>
          <a:solidFill>
            <a:srgbClr val="0F7B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44D479-4C6B-4002-AC62-E0E73BAEC8B5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742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B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B8A"/>
                </a:solidFill>
                <a:latin typeface="Aptos"/>
                <a:ea typeface="Aptos"/>
                <a:cs typeface="Aptos"/>
              </a:rPr>
              <a:t>TRACEREADY AUDIT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A600E4-D720-4494-9394-A2988C6EF7E4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2870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TraceReady Audit pilot design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78B3B0-4293-45CC-B9B7-24AC914CDEE4}"/>
              </a:ext>
            </a:extLst>
          </p:cNvPr>
          <p:cNvSpPr>
            <a:spLocks noGrp="1"/>
          </p:cNvSpPr>
          <p:nvPr/>
        </p:nvSpPr>
        <p:spPr>
          <a:xfrm>
            <a:off x="609600" y="1390650"/>
            <a:ext cx="10477500" cy="14288"/>
          </a:xfrm>
          <a:prstGeom prst="rect">
            <a:avLst/>
          </a:prstGeom>
          <a:solidFill>
            <a:srgbClr val="D8DE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ABF447-183A-4E46-8CE3-78D3B6267FF1}"/>
              </a:ext>
            </a:extLst>
          </p:cNvPr>
          <p:cNvSpPr>
            <a:spLocks noGrp="1"/>
          </p:cNvSpPr>
          <p:nvPr/>
        </p:nvSpPr>
        <p:spPr>
          <a:xfrm>
            <a:off x="952500" y="1638300"/>
            <a:ext cx="10287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7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Target: 3-5 Bay Area medium-scale produce or food operators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87B41C-1E12-4FB6-947D-4388686F2B6C}"/>
              </a:ext>
            </a:extLst>
          </p:cNvPr>
          <p:cNvSpPr>
            <a:spLocks noGrp="1"/>
          </p:cNvSpPr>
          <p:nvPr/>
        </p:nvSpPr>
        <p:spPr>
          <a:xfrm>
            <a:off x="895350" y="2457450"/>
            <a:ext cx="2857500" cy="2000250"/>
          </a:xfrm>
          <a:prstGeom prst="rect">
            <a:avLst/>
          </a:prstGeom>
          <a:solidFill>
            <a:srgbClr val="FFF5E5"/>
          </a:solidFill>
          <a:ln w="9525">
            <a:solidFill>
              <a:srgbClr val="C9D5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FB6356-52E9-45D1-85BB-ECF813D60B33}"/>
              </a:ext>
            </a:extLst>
          </p:cNvPr>
          <p:cNvSpPr>
            <a:spLocks noGrp="1"/>
          </p:cNvSpPr>
          <p:nvPr/>
        </p:nvSpPr>
        <p:spPr>
          <a:xfrm>
            <a:off x="1123950" y="2705100"/>
            <a:ext cx="2400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C27612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C27612"/>
                </a:solidFill>
                <a:latin typeface="Aptos Display"/>
                <a:ea typeface="Aptos Display"/>
                <a:cs typeface="Aptos Display"/>
              </a:rPr>
              <a:t>Input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3DCF81-6E10-4CB8-8251-F580EB6E770C}"/>
              </a:ext>
            </a:extLst>
          </p:cNvPr>
          <p:cNvSpPr>
            <a:spLocks noGrp="1"/>
          </p:cNvSpPr>
          <p:nvPr/>
        </p:nvSpPr>
        <p:spPr>
          <a:xfrm>
            <a:off x="1123950" y="3200400"/>
            <a:ext cx="2400300" cy="933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5 redacted shipment record sets per operator</a:t>
            </a:r>
          </a:p>
          <a:p>
            <a:endParaRPr sz="1275" b="0">
              <a:solidFill>
                <a:srgbClr val="102033"/>
              </a:solidFill>
              <a:latin typeface="Aptos"/>
              <a:ea typeface="Aptos"/>
              <a:cs typeface="Aptos"/>
            </a:endParaRPr>
          </a:p>
          <a:p>
            <a:pPr algn="l">
              <a:defRPr sz="12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Invoice, BOL, label, receiving record, ASN if available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0FDC6E-60CD-46B8-809C-3A58CDFBA49D}"/>
              </a:ext>
            </a:extLst>
          </p:cNvPr>
          <p:cNvSpPr>
            <a:spLocks noGrp="1"/>
          </p:cNvSpPr>
          <p:nvPr/>
        </p:nvSpPr>
        <p:spPr>
          <a:xfrm>
            <a:off x="3962400" y="3257550"/>
            <a:ext cx="381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700" b="1">
                <a:solidFill>
                  <a:srgbClr val="0F7B8A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F7B8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F4FB37-F978-43CA-ACFE-9EB5E19B710D}"/>
              </a:ext>
            </a:extLst>
          </p:cNvPr>
          <p:cNvSpPr>
            <a:spLocks noGrp="1"/>
          </p:cNvSpPr>
          <p:nvPr/>
        </p:nvSpPr>
        <p:spPr>
          <a:xfrm>
            <a:off x="4629150" y="2457450"/>
            <a:ext cx="2857500" cy="2000250"/>
          </a:xfrm>
          <a:prstGeom prst="rect">
            <a:avLst/>
          </a:prstGeom>
          <a:solidFill>
            <a:srgbClr val="EAF2FF"/>
          </a:solidFill>
          <a:ln w="9525">
            <a:solidFill>
              <a:srgbClr val="C9D5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05AF9E-BB1A-45F5-9F1B-7FBBC5314354}"/>
              </a:ext>
            </a:extLst>
          </p:cNvPr>
          <p:cNvSpPr>
            <a:spLocks noGrp="1"/>
          </p:cNvSpPr>
          <p:nvPr/>
        </p:nvSpPr>
        <p:spPr>
          <a:xfrm>
            <a:off x="4857750" y="2705100"/>
            <a:ext cx="2400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2457C5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2457C5"/>
                </a:solidFill>
                <a:latin typeface="Aptos Display"/>
                <a:ea typeface="Aptos Display"/>
                <a:cs typeface="Aptos Display"/>
              </a:rPr>
              <a:t>Process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CA09BE-D645-49E8-A1FA-F262D2E20D1C}"/>
              </a:ext>
            </a:extLst>
          </p:cNvPr>
          <p:cNvSpPr>
            <a:spLocks noGrp="1"/>
          </p:cNvSpPr>
          <p:nvPr/>
        </p:nvSpPr>
        <p:spPr>
          <a:xfrm>
            <a:off x="4857750" y="3200400"/>
            <a:ext cx="2400300" cy="933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Compare document fields</a:t>
            </a:r>
          </a:p>
          <a:p>
            <a:endParaRPr sz="1275" b="0">
              <a:solidFill>
                <a:srgbClr val="102033"/>
              </a:solidFill>
              <a:latin typeface="Aptos"/>
              <a:ea typeface="Aptos"/>
              <a:cs typeface="Aptos"/>
            </a:endParaRPr>
          </a:p>
          <a:p>
            <a:pPr algn="l">
              <a:defRPr sz="12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Flag missing KDEs, lot/source gaps, and mismatches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DA06BC4-1655-4A24-8505-F67FE835A997}"/>
              </a:ext>
            </a:extLst>
          </p:cNvPr>
          <p:cNvSpPr>
            <a:spLocks noGrp="1"/>
          </p:cNvSpPr>
          <p:nvPr/>
        </p:nvSpPr>
        <p:spPr>
          <a:xfrm>
            <a:off x="7696200" y="3257550"/>
            <a:ext cx="381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700" b="1">
                <a:solidFill>
                  <a:srgbClr val="0F7B8A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F7B8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EF4BDF-CB7D-4C64-8BFD-5D9488C030D1}"/>
              </a:ext>
            </a:extLst>
          </p:cNvPr>
          <p:cNvSpPr>
            <a:spLocks noGrp="1"/>
          </p:cNvSpPr>
          <p:nvPr/>
        </p:nvSpPr>
        <p:spPr>
          <a:xfrm>
            <a:off x="8362950" y="2457450"/>
            <a:ext cx="2857500" cy="2000250"/>
          </a:xfrm>
          <a:prstGeom prst="rect">
            <a:avLst/>
          </a:prstGeom>
          <a:solidFill>
            <a:srgbClr val="EAF7F1"/>
          </a:solidFill>
          <a:ln w="9525">
            <a:solidFill>
              <a:srgbClr val="C9D5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F657068-7F2E-4F08-82B7-110B63569818}"/>
              </a:ext>
            </a:extLst>
          </p:cNvPr>
          <p:cNvSpPr>
            <a:spLocks noGrp="1"/>
          </p:cNvSpPr>
          <p:nvPr/>
        </p:nvSpPr>
        <p:spPr>
          <a:xfrm>
            <a:off x="8591550" y="2705100"/>
            <a:ext cx="2400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47A5A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47A5A"/>
                </a:solidFill>
                <a:latin typeface="Aptos Display"/>
                <a:ea typeface="Aptos Display"/>
                <a:cs typeface="Aptos Display"/>
              </a:rPr>
              <a:t>Output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957BEB6-F1F0-440B-982F-34ABD177AF8E}"/>
              </a:ext>
            </a:extLst>
          </p:cNvPr>
          <p:cNvSpPr>
            <a:spLocks noGrp="1"/>
          </p:cNvSpPr>
          <p:nvPr/>
        </p:nvSpPr>
        <p:spPr>
          <a:xfrm>
            <a:off x="8591550" y="3200400"/>
            <a:ext cx="2400300" cy="933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Clean Excel or FDA-style export</a:t>
            </a:r>
          </a:p>
          <a:p>
            <a:endParaRPr sz="1275" b="0">
              <a:solidFill>
                <a:srgbClr val="102033"/>
              </a:solidFill>
              <a:latin typeface="Aptos"/>
              <a:ea typeface="Aptos"/>
              <a:cs typeface="Aptos"/>
            </a:endParaRPr>
          </a:p>
          <a:p>
            <a:pPr algn="l">
              <a:defRPr sz="12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Missing-field report and mismatch summary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4BCE4B2-C12A-46F9-BA41-511CCD9D86E6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476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A849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494"/>
                </a:solidFill>
                <a:latin typeface="Aptos"/>
                <a:ea typeface="Aptos"/>
                <a:cs typeface="Aptos"/>
              </a:rPr>
              <a:t>TraceReady - collaboration discussion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62590B6-2D85-4445-A8E8-8BF82B283538}"/>
              </a:ext>
            </a:extLst>
          </p:cNvPr>
          <p:cNvSpPr>
            <a:spLocks noGrp="1"/>
          </p:cNvSpPr>
          <p:nvPr/>
        </p:nvSpPr>
        <p:spPr>
          <a:xfrm>
            <a:off x="10744200" y="6438900"/>
            <a:ext cx="914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7A849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49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98221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3188F62D-ADDC-4A72-BA88-A6C2A242E6A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83DD321-58C2-4DDA-B2E4-CEA3426787C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3825" cy="6858000"/>
          </a:xfrm>
          <a:prstGeom prst="rect">
            <a:avLst/>
          </a:prstGeom>
          <a:solidFill>
            <a:srgbClr val="0F7B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F312E0-EE6B-45D1-AB80-CE95EC840F50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742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B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B8A"/>
                </a:solidFill>
                <a:latin typeface="Aptos"/>
                <a:ea typeface="Aptos"/>
                <a:cs typeface="Aptos"/>
              </a:rPr>
              <a:t>TRACEREADY AUDIT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5A926D-B08D-480D-B6F7-BCA0A4B56FE9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2870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Possible partner fit: readiness before onboarding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AADDF9-8093-42FC-91E0-55C9EC477A51}"/>
              </a:ext>
            </a:extLst>
          </p:cNvPr>
          <p:cNvSpPr>
            <a:spLocks noGrp="1"/>
          </p:cNvSpPr>
          <p:nvPr/>
        </p:nvSpPr>
        <p:spPr>
          <a:xfrm>
            <a:off x="609600" y="1390650"/>
            <a:ext cx="10477500" cy="14288"/>
          </a:xfrm>
          <a:prstGeom prst="rect">
            <a:avLst/>
          </a:prstGeom>
          <a:solidFill>
            <a:srgbClr val="D8DE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FC5027-742E-4FF2-B621-48CE63D5A078}"/>
              </a:ext>
            </a:extLst>
          </p:cNvPr>
          <p:cNvSpPr>
            <a:spLocks noGrp="1"/>
          </p:cNvSpPr>
          <p:nvPr/>
        </p:nvSpPr>
        <p:spPr>
          <a:xfrm>
            <a:off x="781050" y="2019300"/>
            <a:ext cx="4762500" cy="2781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76F73A-1C6A-480E-A09E-DF1CC5D67DEB}"/>
              </a:ext>
            </a:extLst>
          </p:cNvPr>
          <p:cNvSpPr>
            <a:spLocks noGrp="1"/>
          </p:cNvSpPr>
          <p:nvPr/>
        </p:nvSpPr>
        <p:spPr>
          <a:xfrm>
            <a:off x="1123950" y="2419350"/>
            <a:ext cx="76200" cy="266700"/>
          </a:xfrm>
          <a:prstGeom prst="rect">
            <a:avLst/>
          </a:prstGeom>
          <a:solidFill>
            <a:srgbClr val="0F7B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D6131D-95F0-4161-A1CC-F7BEDBA430EA}"/>
              </a:ext>
            </a:extLst>
          </p:cNvPr>
          <p:cNvSpPr>
            <a:spLocks noGrp="1"/>
          </p:cNvSpPr>
          <p:nvPr/>
        </p:nvSpPr>
        <p:spPr>
          <a:xfrm>
            <a:off x="1295400" y="2438400"/>
            <a:ext cx="4000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TraceReady Audit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1BDCEB-F266-4BC2-967D-C752CE48C852}"/>
              </a:ext>
            </a:extLst>
          </p:cNvPr>
          <p:cNvSpPr>
            <a:spLocks noGrp="1"/>
          </p:cNvSpPr>
          <p:nvPr/>
        </p:nvSpPr>
        <p:spPr>
          <a:xfrm>
            <a:off x="1143000" y="2971800"/>
            <a:ext cx="390525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Operator has messy records.</a:t>
            </a:r>
          </a:p>
          <a:p>
            <a:pPr algn="l">
              <a:defRPr sz="17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Pilot produces clean fields, exception report, and export sample.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FDDF28-7A63-4C61-B28B-F0FA99C28D93}"/>
              </a:ext>
            </a:extLst>
          </p:cNvPr>
          <p:cNvSpPr>
            <a:spLocks noGrp="1"/>
          </p:cNvSpPr>
          <p:nvPr/>
        </p:nvSpPr>
        <p:spPr>
          <a:xfrm>
            <a:off x="1143000" y="4038600"/>
            <a:ext cx="3810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F7B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B8A"/>
                </a:solidFill>
                <a:latin typeface="Aptos"/>
                <a:ea typeface="Aptos"/>
                <a:cs typeface="Aptos"/>
              </a:rPr>
              <a:t>Outcome: customer is easier to evaluate and onboard.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A37973A-FD9B-475E-A7A9-4CE532DD4186}"/>
              </a:ext>
            </a:extLst>
          </p:cNvPr>
          <p:cNvSpPr>
            <a:spLocks noGrp="1"/>
          </p:cNvSpPr>
          <p:nvPr/>
        </p:nvSpPr>
        <p:spPr>
          <a:xfrm>
            <a:off x="5791200" y="3105150"/>
            <a:ext cx="6096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3450" b="1">
                <a:solidFill>
                  <a:srgbClr val="0F7B8A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0F7B8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FFF9CD-9DE8-434A-ABFD-61CAB312E809}"/>
              </a:ext>
            </a:extLst>
          </p:cNvPr>
          <p:cNvSpPr>
            <a:spLocks noGrp="1"/>
          </p:cNvSpPr>
          <p:nvPr/>
        </p:nvSpPr>
        <p:spPr>
          <a:xfrm>
            <a:off x="6724650" y="2019300"/>
            <a:ext cx="4762500" cy="2781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2EA5A7-71A5-4C74-9BD0-6C0E8A629662}"/>
              </a:ext>
            </a:extLst>
          </p:cNvPr>
          <p:cNvSpPr>
            <a:spLocks noGrp="1"/>
          </p:cNvSpPr>
          <p:nvPr/>
        </p:nvSpPr>
        <p:spPr>
          <a:xfrm>
            <a:off x="7067550" y="2419350"/>
            <a:ext cx="76200" cy="266700"/>
          </a:xfrm>
          <a:prstGeom prst="rect">
            <a:avLst/>
          </a:prstGeom>
          <a:solidFill>
            <a:srgbClr val="147A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CFB2C72-CCEC-40BE-A01C-12BCDBD4D396}"/>
              </a:ext>
            </a:extLst>
          </p:cNvPr>
          <p:cNvSpPr>
            <a:spLocks noGrp="1"/>
          </p:cNvSpPr>
          <p:nvPr/>
        </p:nvSpPr>
        <p:spPr>
          <a:xfrm>
            <a:off x="7239000" y="2438400"/>
            <a:ext cx="4000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Traceability platform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E49A44-EE34-4A38-BB4C-E7911FA63156}"/>
              </a:ext>
            </a:extLst>
          </p:cNvPr>
          <p:cNvSpPr>
            <a:spLocks noGrp="1"/>
          </p:cNvSpPr>
          <p:nvPr/>
        </p:nvSpPr>
        <p:spPr>
          <a:xfrm>
            <a:off x="7086600" y="2971800"/>
            <a:ext cx="390525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Systems like TRAKKEY4Food / ENSESO4Food, ERP, WMS, or DProduce Man receive cleaner data.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D458AA5-3C1C-4624-8D01-DD34D067A5CF}"/>
              </a:ext>
            </a:extLst>
          </p:cNvPr>
          <p:cNvSpPr>
            <a:spLocks noGrp="1"/>
          </p:cNvSpPr>
          <p:nvPr/>
        </p:nvSpPr>
        <p:spPr>
          <a:xfrm>
            <a:off x="7086600" y="4038600"/>
            <a:ext cx="3810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47A5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7A5A"/>
                </a:solidFill>
                <a:latin typeface="Aptos"/>
                <a:ea typeface="Aptos"/>
                <a:cs typeface="Aptos"/>
              </a:rPr>
              <a:t>Outcome: lower onboarding friction and clearer implementation scope.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F2850FC-169F-4082-89FA-931D2387A910}"/>
              </a:ext>
            </a:extLst>
          </p:cNvPr>
          <p:cNvSpPr>
            <a:spLocks noGrp="1"/>
          </p:cNvSpPr>
          <p:nvPr/>
        </p:nvSpPr>
        <p:spPr>
          <a:xfrm>
            <a:off x="1200150" y="5314950"/>
            <a:ext cx="97917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1575" b="1" dirty="0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Collaboration question: is this readiness step useful, unnecessary, or already handled inside the platform?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275EEB5-3EF1-4BB0-9C5D-7A0A8B4AF1A8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476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A849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494"/>
                </a:solidFill>
                <a:latin typeface="Aptos"/>
                <a:ea typeface="Aptos"/>
                <a:cs typeface="Aptos"/>
              </a:rPr>
              <a:t>TraceReady - collaboration discussion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C270DED-BB98-4C77-892C-52709B7ECD2B}"/>
              </a:ext>
            </a:extLst>
          </p:cNvPr>
          <p:cNvSpPr>
            <a:spLocks noGrp="1"/>
          </p:cNvSpPr>
          <p:nvPr/>
        </p:nvSpPr>
        <p:spPr>
          <a:xfrm>
            <a:off x="10744200" y="6438900"/>
            <a:ext cx="914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7A849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49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0711597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331</Words>
  <Application>Microsoft Macintosh PowerPoint</Application>
  <DocSecurity>0</DocSecurity>
  <PresentationFormat>Widescreen</PresentationFormat>
  <Paragraphs>58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Ramesh k</cp:lastModifiedBy>
  <cp:revision>1</cp:revision>
  <dcterms:created xsi:type="dcterms:W3CDTF">2026-06-10T16:59:25Z</dcterms:created>
  <dcterms:modified xsi:type="dcterms:W3CDTF">2026-06-10T17:05:25Z</dcterms:modified>
</cp:coreProperties>
</file>